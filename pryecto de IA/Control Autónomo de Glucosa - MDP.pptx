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DM Sans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F7F0C9-7F8E-493D-8E85-5CA5B012F8FD}">
  <a:tblStyle styleId="{78F7F0C9-7F8E-493D-8E85-5CA5B012F8F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DMSans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regular.fntdata"/><Relationship Id="rId25" Type="http://schemas.openxmlformats.org/officeDocument/2006/relationships/font" Target="fonts/Urbanist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Medium-bold.fntdata"/><Relationship Id="rId18" Type="http://schemas.openxmlformats.org/officeDocument/2006/relationships/font" Target="fonts/DM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188839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050FF"/>
                </a:solidFill>
                <a:latin typeface="DM Sans"/>
                <a:ea typeface="DM Sans"/>
                <a:cs typeface="DM Sans"/>
                <a:sym typeface="DM Sans"/>
              </a:rPr>
              <a:t>PROYECTO DE GRADO - INGENIERÍA DE SISTEMAS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684139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Control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Autónomo</a:t>
            </a: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 Glucosa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mediante Modelos MDP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21558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Una solución inteligente para la dosificación de insulina basal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57185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Estudiante: Richard Chavez Cano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067151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Universidad Mayor Real y Pontificia de San Francisco Xavier de Chuquisaca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463331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Sucre, Bolivia - 2026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355657" y="571500"/>
            <a:ext cx="548068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355657" y="1485900"/>
            <a:ext cx="54806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Problema Clínico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619750" y="2457450"/>
            <a:ext cx="952500" cy="38100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486150" y="2781300"/>
            <a:ext cx="521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¿Por qué es tan difícil controlar la glucosa de forma manual?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24050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El metabolismo humano no es una constante matemática. La efectividad de la insulina se ve afectada por factores individuales: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47101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Un control manual es reactivo; nuestro sistema es proactivo.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85825" y="3605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605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Edad: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Sensibilidad reducida en adultos mayores.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85825" y="39100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39100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Peso: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Resistencia periférica por tejido adiposo.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85825" y="42148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42148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Género: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Variaciones metabólicas basales únicas.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Variabilidad Clínica del Paciente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3600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33600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33600"/>
            <a:ext cx="3492549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14400" y="318135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Factor Edad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14400" y="3838575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Castigo del 15% en la efectividad de absorción para pacientes en etapa de adultez mayor.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92699" y="318135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Factor Peso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92699" y="3838575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Castigo del 20% en la efectividad debido a la resistencia generada por el sobrepeso.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70999" y="3181350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Factor Género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70999" y="3838575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Ajuste metabólico base para personalizar la respuesta glucémica del modelo.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33650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5336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533650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Modelado de la Resistencia Biológica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2700575" y="571500"/>
            <a:ext cx="67908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700575" y="1485900"/>
            <a:ext cx="67908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La Solución: Modelo MDP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619750" y="2457450"/>
            <a:ext cx="952500" cy="38100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2862262" y="2781300"/>
            <a:ext cx="6467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Implementación de Procesos de Decisión de Markov.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902422"/>
            <a:ext cx="391284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6381750" y="288324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Iteración de Valor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381750" y="329282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El agente no "aprende" por error; resuelve el cuerpo del paciente matemáticamente antes de actuar.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381750" y="4445347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Buscamos la dosis que maximiza el bienestar futuro del paciente.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4108698"/>
            <a:ext cx="3531840" cy="17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Optimizando Decisiones Médicas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2414438"/>
            <a:ext cx="60579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2403127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24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3927127"/>
            <a:ext cx="4419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Estados Médicos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4521398"/>
            <a:ext cx="441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Combinaciones únicas de Glucosa, Edad, Peso y Género.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905500" y="2909738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Cálculo de la Tabla Q: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96 utilidades posibles evaluadas.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905500" y="3405038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Política Óptima: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Un mapa de 24 reglas fijas de inyección.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905500" y="4205138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Convergencia: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Garantía matemática de estabilidad terapéutica.</a:t>
            </a:r>
            <a:endParaRPr/>
          </a:p>
        </p:txBody>
      </p:sp>
      <p:pic>
        <p:nvPicPr>
          <p:cNvPr descr="image.png" id="171" name="Google Shape;17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29621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34574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425752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Estados y Reglas de Decisión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809625" y="571500"/>
            <a:ext cx="4950618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Simulación en Tiempo Real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571500"/>
            <a:ext cx="57150" cy="971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19240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Control 100% Autónomo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23336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La interfaz gráfica en Pygame permite auditar al agente mientras el paciente "vive" su metabolismo minuto a minuto.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36290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El sistema inyecta dosis precisas ante eventos aleatorios de alimentación, manteniendo la glucosa en el rango verde (70 - 140 mg/dL).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73747"/>
            <a:ext cx="5238750" cy="2200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186407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Bitácora de Eventos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227364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A diferencia de sistemas manuales, nuestro simulador incluye un registro permanente de perturbaciones.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5464373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Permite al tribunal verificar la causa (comida) y el efecto (estabilización).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6381750" y="2295376"/>
            <a:ext cx="5238750" cy="31337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21"/>
          <p:cNvGraphicFramePr/>
          <p:nvPr/>
        </p:nvGraphicFramePr>
        <p:xfrm>
          <a:off x="6381750" y="22953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{78F7F0C9-7F8E-493D-8E85-5CA5B012F8FD}</a:tableStyleId>
              </a:tblPr>
              <a:tblGrid>
                <a:gridCol w="1281700"/>
                <a:gridCol w="1434250"/>
                <a:gridCol w="2522775"/>
              </a:tblGrid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Unidades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Uso Terapéutico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Aplicar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Ayuno o Glucosa Normal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Dosis Baja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Ajuste Leve / Sensibles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Hiperglucemia Moderada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Dosis Alta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5F5F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Crisis / Resistencia Alta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 txBox="1"/>
          <p:nvPr/>
        </p:nvSpPr>
        <p:spPr>
          <a:xfrm>
            <a:off x="914400" y="3588097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823A"/>
                </a:solidFill>
                <a:latin typeface="DM Sans"/>
                <a:ea typeface="DM Sans"/>
                <a:cs typeface="DM Sans"/>
                <a:sym typeface="DM Sans"/>
              </a:rPr>
              <a:t>Último Registro: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914400" y="4386262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Ingesta de Carbohidratos (Min 184)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6381750" y="3557438"/>
            <a:ext cx="12817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7663457" y="3557438"/>
            <a:ext cx="1434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9097714" y="3557438"/>
            <a:ext cx="2522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381750" y="4176563"/>
            <a:ext cx="12817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663457" y="4176563"/>
            <a:ext cx="1434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9097714" y="4176563"/>
            <a:ext cx="2522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381750" y="4795688"/>
            <a:ext cx="12817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7663457" y="4795688"/>
            <a:ext cx="1434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9097714" y="4795688"/>
            <a:ext cx="2522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381750" y="5414813"/>
            <a:ext cx="128170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663457" y="5414813"/>
            <a:ext cx="1434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9097714" y="5414813"/>
            <a:ext cx="2522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Auditoría Clínica Automática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1080" y="31146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3760" y="31146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6441" y="31146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19121" y="31146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/>
          <p:nvPr/>
        </p:nvSpPr>
        <p:spPr>
          <a:xfrm>
            <a:off x="571500" y="3400425"/>
            <a:ext cx="11049000" cy="1905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510733" y="3876675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Entrenar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428625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El agente resuelve el MDP analítico.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3383413" y="3876675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Sensar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3444180" y="428625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Monitorización continua mg/dL.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256094" y="3876675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Actuar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316860" y="428625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Aplicación de la Política Óptima.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9128774" y="3876675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Registrar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9189541" y="428625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Bitácora clínica en panel izquierdo.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Flujo de la Simulación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2675"/>
            <a:ext cx="5334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52675"/>
            <a:ext cx="5334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715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Un paso hacia el páncreas artificial automatizado.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14400" y="2695575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Personalización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914400" y="335280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El agente adapta la dosis a la edad y peso, reduciendo el riesgo de hipoglucemia por exceso.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629400" y="2695575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Estabilidad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629400" y="335280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Logramos una curva glucémica estable a pesar de perturbaciones imprevistas (comida).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09625" y="571500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Conclusiones e Impacto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